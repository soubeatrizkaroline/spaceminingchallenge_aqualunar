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f595f2ccd48eb" /><Relationship Type="http://schemas.openxmlformats.org/officeDocument/2006/relationships/extended-properties" Target="/docProps/app.xml" Id="Rf087ec9fd8f040b7" /><Relationship Type="http://schemas.openxmlformats.org/officeDocument/2006/relationships/officeDocument" Target="/ppt/presentation.xml" Id="Rc8b3f17444904e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9c98c90211415a"/>
  </p:sldMasterIdLst>
  <p:notesMasterIdLst>
    <p:notesMasterId xmlns:r="http://schemas.openxmlformats.org/officeDocument/2006/relationships" r:id="Rf45bba14d79543b4"/>
  </p:notesMasterIdLst>
  <p:sldIdLst>
    <p:sldId xmlns:r="http://schemas.openxmlformats.org/officeDocument/2006/relationships" id="256" r:id="R19f5016f9b224756"/>
    <p:sldId xmlns:r="http://schemas.openxmlformats.org/officeDocument/2006/relationships" id="257" r:id="Rbb61b2af544f48f6"/>
    <p:sldId xmlns:r="http://schemas.openxmlformats.org/officeDocument/2006/relationships" id="258" r:id="R38f131dac66a46e0"/>
    <p:sldId xmlns:r="http://schemas.openxmlformats.org/officeDocument/2006/relationships" id="259" r:id="Rad09af1b02014f27"/>
    <p:sldId xmlns:r="http://schemas.openxmlformats.org/officeDocument/2006/relationships" id="260" r:id="Rf7f84064615d4e50"/>
    <p:sldId xmlns:r="http://schemas.openxmlformats.org/officeDocument/2006/relationships" id="261" r:id="Rab8386a484b747e6"/>
    <p:sldId xmlns:r="http://schemas.openxmlformats.org/officeDocument/2006/relationships" id="262" r:id="R5d0c5150f6ec4c9a"/>
    <p:sldId xmlns:r="http://schemas.openxmlformats.org/officeDocument/2006/relationships" id="263" r:id="Re02401bedb3c4325"/>
    <p:sldId xmlns:r="http://schemas.openxmlformats.org/officeDocument/2006/relationships" id="264" r:id="Rbaa03b6da7a84049"/>
    <p:sldId xmlns:r="http://schemas.openxmlformats.org/officeDocument/2006/relationships" id="265" r:id="R1cedf19010ba417b"/>
    <p:sldId xmlns:r="http://schemas.openxmlformats.org/officeDocument/2006/relationships" id="266" r:id="Re84f34e1872b4858"/>
    <p:sldId xmlns:r="http://schemas.openxmlformats.org/officeDocument/2006/relationships" id="267" r:id="Rf34cea7b7ecd4103"/>
    <p:sldId xmlns:r="http://schemas.openxmlformats.org/officeDocument/2006/relationships" id="268" r:id="R039072b742304e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38299b8bfa4fd8" /><Relationship Type="http://schemas.openxmlformats.org/officeDocument/2006/relationships/slideMaster" Target="/ppt/slideMasters/slideMaster1.xml" Id="R319c98c90211415a" /><Relationship Type="http://schemas.openxmlformats.org/officeDocument/2006/relationships/notesMaster" Target="/ppt/notesMasters/notesMaster1.xml" Id="Rf45bba14d79543b4" /><Relationship Type="http://schemas.openxmlformats.org/officeDocument/2006/relationships/presProps" Target="/ppt/presProps.xml" Id="Rb731e5bd5103418e" /><Relationship Type="http://schemas.openxmlformats.org/officeDocument/2006/relationships/tableStyles" Target="/ppt/tableStyles.xml" Id="Rdd621868abab460b" /><Relationship Type="http://schemas.openxmlformats.org/officeDocument/2006/relationships/slide" Target="/ppt/slides/slide1.xml" Id="R19f5016f9b224756" /><Relationship Type="http://schemas.openxmlformats.org/officeDocument/2006/relationships/slide" Target="/ppt/slides/slide2.xml" Id="Rbb61b2af544f48f6" /><Relationship Type="http://schemas.openxmlformats.org/officeDocument/2006/relationships/slide" Target="/ppt/slides/slide3.xml" Id="R38f131dac66a46e0" /><Relationship Type="http://schemas.openxmlformats.org/officeDocument/2006/relationships/slide" Target="/ppt/slides/slide4.xml" Id="Rad09af1b02014f27" /><Relationship Type="http://schemas.openxmlformats.org/officeDocument/2006/relationships/slide" Target="/ppt/slides/slide5.xml" Id="Rf7f84064615d4e50" /><Relationship Type="http://schemas.openxmlformats.org/officeDocument/2006/relationships/slide" Target="/ppt/slides/slide6.xml" Id="Rab8386a484b747e6" /><Relationship Type="http://schemas.openxmlformats.org/officeDocument/2006/relationships/slide" Target="/ppt/slides/slide7.xml" Id="R5d0c5150f6ec4c9a" /><Relationship Type="http://schemas.openxmlformats.org/officeDocument/2006/relationships/slide" Target="/ppt/slides/slide8.xml" Id="Re02401bedb3c4325" /><Relationship Type="http://schemas.openxmlformats.org/officeDocument/2006/relationships/slide" Target="/ppt/slides/slide9.xml" Id="Rbaa03b6da7a84049" /><Relationship Type="http://schemas.openxmlformats.org/officeDocument/2006/relationships/slide" Target="/ppt/slides/slide10.xml" Id="R1cedf19010ba417b" /><Relationship Type="http://schemas.openxmlformats.org/officeDocument/2006/relationships/slide" Target="/ppt/slides/slide11.xml" Id="Re84f34e1872b4858" /><Relationship Type="http://schemas.openxmlformats.org/officeDocument/2006/relationships/slide" Target="/ppt/slides/slide12.xml" Id="Rf34cea7b7ecd4103" /><Relationship Type="http://schemas.openxmlformats.org/officeDocument/2006/relationships/slide" Target="/ppt/slides/slide13.xml" Id="R039072b742304e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672c94a391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da190a30d4d86" /><Relationship Type="http://schemas.openxmlformats.org/officeDocument/2006/relationships/notesMaster" Target="/ppt/notesMasters/notesMaster1.xml" Id="R8179adb49bf745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5e8d8308f0461b" /><Relationship Type="http://schemas.openxmlformats.org/officeDocument/2006/relationships/notesMaster" Target="/ppt/notesMasters/notesMaster1.xml" Id="Rebcb7de3eed9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2042229b9946b8" /><Relationship Type="http://schemas.openxmlformats.org/officeDocument/2006/relationships/notesMaster" Target="/ppt/notesMasters/notesMaster1.xml" Id="R06b1deca60c54c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3072e6f7a34afe" /><Relationship Type="http://schemas.openxmlformats.org/officeDocument/2006/relationships/notesMaster" Target="/ppt/notesMasters/notesMaster1.xml" Id="R00e19b6c15f24e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a19cfbf7584ee6" /><Relationship Type="http://schemas.openxmlformats.org/officeDocument/2006/relationships/notesMaster" Target="/ppt/notesMasters/notesMaster1.xml" Id="R26bbf963e73c49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8d72eb7f2047ef" /><Relationship Type="http://schemas.openxmlformats.org/officeDocument/2006/relationships/notesMaster" Target="/ppt/notesMasters/notesMaster1.xml" Id="R595156b2f26842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f477306c33438b" /><Relationship Type="http://schemas.openxmlformats.org/officeDocument/2006/relationships/notesMaster" Target="/ppt/notesMasters/notesMaster1.xml" Id="R9d5a8127a7974b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696fa3bd9c4f22" /><Relationship Type="http://schemas.openxmlformats.org/officeDocument/2006/relationships/notesMaster" Target="/ppt/notesMasters/notesMaster1.xml" Id="R7bbb754704d447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c2c5eaf9d94b1f" /><Relationship Type="http://schemas.openxmlformats.org/officeDocument/2006/relationships/notesMaster" Target="/ppt/notesMasters/notesMaster1.xml" Id="Raacf6bfb0ea049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07d1c60abb4705" /><Relationship Type="http://schemas.openxmlformats.org/officeDocument/2006/relationships/notesMaster" Target="/ppt/notesMasters/notesMaster1.xml" Id="Rfd61f75067894d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685a14543b44de" /><Relationship Type="http://schemas.openxmlformats.org/officeDocument/2006/relationships/notesMaster" Target="/ppt/notesMasters/notesMaster1.xml" Id="Re57bb033d05249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502de2df834a08" /><Relationship Type="http://schemas.openxmlformats.org/officeDocument/2006/relationships/notesMaster" Target="/ppt/notesMasters/notesMaster1.xml" Id="R0dd91d8d050343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2252960b6e41d3" /><Relationship Type="http://schemas.openxmlformats.org/officeDocument/2006/relationships/notesMaster" Target="/ppt/notesMasters/notesMaster1.xml" Id="Rb4e8077d98d74b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 limites: docs/missao-aurora-sul.md. O título apresenta uma hipótese, não uma confirmação de minério.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no briefing do Space Mining Challenge fornecido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de comparação: docs/recursos.md e links de fontes no README. As pontuações são julgamento de equipe, não classificação da NASA.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NASA Solar System Treks, https://trek.nasa.gov/moon/. O briefing exige Moon Trek como ponto de partida.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PDS Geosciences, Diviner: https://pds-geosciences.wustl.edu/missions/lro/diviner.htm. Usar PRP V2.0 conforme briefing.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PDS LEND https://pds-geosciences.wustl.edu/missions/lro/lend.htm e NASA Hydrogen At The Lunar Poles https://science.nasa.gov/wp-content/uploads/2023/05/NuggetHydrogenAtTheLunarPoles20170210.pdf.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NASA Goddard PGDA, High Resolution LOLA Topography for Lunar South Pole Sites, https://pgda.gsfc.nasa.gov/products/78.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da equipe com as três fontes anteriores. Não há cálculo de teor de gelo nesta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Conceito de engenharia da equipe. Não é uma operação demonstrada em Shackleton.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Contexto: NASA Moon Water and Ices https://science.nasa.gov/moon/moon-water-and-ices/.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seção explicita limites, como exige o briefing.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Registro de transparência para a seção obrigatória de IA do desafio.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final. Ver também docs/missao-aurora-sul.md e docs/roteiro-pitch-aurora-sul.md.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d0366bbb84f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c45e07425644f6" /><Relationship Type="http://schemas.openxmlformats.org/officeDocument/2006/relationships/slideLayout" Target="/ppt/slideLayouts/slideLayout1.xml" Id="R19e10101402d4a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e10101402d4a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bb5c55fc447fc" /><Relationship Type="http://schemas.openxmlformats.org/officeDocument/2006/relationships/notesSlide" Target="/ppt/notesSlides/notesSlide1.xml" Id="R78879942fb6f4b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8c29f2f584d89" /><Relationship Type="http://schemas.openxmlformats.org/officeDocument/2006/relationships/notesSlide" Target="/ppt/notesSlides/notesSlide2.xml" Id="Rc1d1de246e4f49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11a6d31244e6b" /><Relationship Type="http://schemas.openxmlformats.org/officeDocument/2006/relationships/notesSlide" Target="/ppt/notesSlides/notesSlide3.xml" Id="R4fdf6960237042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47856e36e4d0b" /><Relationship Type="http://schemas.openxmlformats.org/officeDocument/2006/relationships/notesSlide" Target="/ppt/notesSlides/notesSlide4.xml" Id="Rde9a0f156a7d46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18a5b16034e20" /><Relationship Type="http://schemas.openxmlformats.org/officeDocument/2006/relationships/notesSlide" Target="/ppt/notesSlides/notesSlide5.xml" Id="Rece5cd10af6d47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25d4457d84bca" /><Relationship Type="http://schemas.openxmlformats.org/officeDocument/2006/relationships/notesSlide" Target="/ppt/notesSlides/notesSlide6.xml" Id="R6382e622eb1243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6d8f12f524d46" /><Relationship Type="http://schemas.openxmlformats.org/officeDocument/2006/relationships/notesSlide" Target="/ppt/notesSlides/notesSlide7.xml" Id="R973a467478ca47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21fb5df164c2c" /><Relationship Type="http://schemas.openxmlformats.org/officeDocument/2006/relationships/notesSlide" Target="/ppt/notesSlides/notesSlide8.xml" Id="Rb9ba425a4fb945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abd8ab23546e4" /><Relationship Type="http://schemas.openxmlformats.org/officeDocument/2006/relationships/notesSlide" Target="/ppt/notesSlides/notesSlide9.xml" Id="Red3bc7f81de24a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c9756c75d4f20" /><Relationship Type="http://schemas.openxmlformats.org/officeDocument/2006/relationships/notesSlide" Target="/ppt/notesSlides/notesSlide10.xml" Id="Rb6066de39e3843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e9de37f2242cc" /><Relationship Type="http://schemas.openxmlformats.org/officeDocument/2006/relationships/notesSlide" Target="/ppt/notesSlides/notesSlide11.xml" Id="R22f7d0a1bbc140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961c2e1a64e4f" /><Relationship Type="http://schemas.openxmlformats.org/officeDocument/2006/relationships/notesSlide" Target="/ppt/notesSlides/notesSlide12.xml" Id="Rf675c550c87e4f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244c05696468b" /><Relationship Type="http://schemas.openxmlformats.org/officeDocument/2006/relationships/notesSlide" Target="/ppt/notesSlides/notesSlide13.xml" Id="R0aedefc38e024c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E2C0A-E3D2-481A-8ADF-72CCDF04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EE94F-A053-460D-8AF7-B756C3B2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Água lunar como primeira hipótese de mineração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A8104-379B-408D-8BC1-FBB63B83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Uma decisão que depende de evidência espacial, acesso e uma cadeia de processo verificável.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7F7DE-DD8F-4688-ADDE-F8160F3E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DF846-411B-46BF-8F34-217A1CCB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Missão Aurora Sul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BF760-663A-449D-B1D0-C6EAD17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Área de estudo: polo sul lunar, entorno de Shackleton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698CB-2BD5-4591-A9D1-F3A4B88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Decisão provisória: investigar água gelada no regolito antes de propor extração.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2FF39-2A9C-4664-B8CA-32A54265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#PartiuLua</a:t>
            </a:r>
          </a:p>
        </p:txBody>
      </p:sp>
    </p:spTree>
    <p:extLst>
      <p:ext uri="{BB962C8B-B14F-4D97-AF65-F5344CB8AC3E}">
        <p14:creationId xmlns:p14="http://schemas.microsoft.com/office/powerpoint/2010/main" val="727232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85B65-9D11-4F05-ACDE-3077A7D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BBE80-7491-4B3B-8581-66A34790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A pergunta da missão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F67F1-BCE4-4FDD-9CD5-C6E6F046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E3448-3622-4D4D-AFA8-B388C974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O que vale a pena minerar na Lua?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678FC-1C3B-4CE7-ADD9-03612E70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04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A resposta precisa ligar recurso, região, operação e uso. A existência de um sinal geológico não resolve essas quatro perguntas.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1FB68-7B01-46C7-8A07-6EE5A485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554D4-BE3F-4DB4-B6F5-62B37205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Decisão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24707-97FE-4C30-872D-52FD6633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438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Água polar como hipótese inicial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1E698-FE17-4813-BB03-19CD9B8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4767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8B265-3CB6-4126-9574-A84B25B3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648200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Condição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4E050-E3E0-415F-8DFD-BF0A3CFB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105400"/>
            <a:ext cx="2438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Confirmar acesso e material 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0D37A-75D2-462E-8E97-8AAB7D0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F5A6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C2A38-8304-4862-BF73-D77ECD11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48200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Limite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A1D4B-DA37-45F4-9766-4C3A7FC2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05400"/>
            <a:ext cx="2438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79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Não declarar uma mina antes dos dados</a:t>
            </a:r>
          </a:p>
        </p:txBody>
      </p:sp>
    </p:spTree>
    <p:extLst>
      <p:ext uri="{BB962C8B-B14F-4D97-AF65-F5344CB8AC3E}">
        <p14:creationId xmlns:p14="http://schemas.microsoft.com/office/powerpoint/2010/main" val="34180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730AC-3F07-4F23-A94D-30D8C590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3B9FF-EC5B-43FB-9858-3F892823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Alternativas comparadas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CF4DE-88FD-4EB5-BEDC-5E15EBDF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A escolha privilegia o primeiro uso operacional, sem transformar a comparação em previsão econômica.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00679-63B3-47E9-9F51-4050BE8F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D1854-002F-4A75-8C3B-643E6BF8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0A4C2-A295-4251-8656-1FA9276E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Água polar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FD889-0989-40FF-AD8F-C4240611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724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Suporte à operação, oxigênio e potencial de propelente.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7B9AC-316E-4D00-A106-C437D05E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F7024-2440-4F3A-AB71-516A8F78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5745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Ilmenita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09AFD-DA26-48DB-A066-8F18D124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14650"/>
            <a:ext cx="2724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Oxigênio potencial e materiais. Processo ainda precisa demonstrar eficiência.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52DC8-D415-4954-9492-7AFF4AE5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F5A6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96B5E-D254-4A00-AEFE-8CA534B6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KREEP e hélio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23E3D-BAF4-4E9E-9892-A0F76D61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724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Valor possível no futuro, com maior incerteza de processo, concentração e uso.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319A7-DBE6-4088-93BB-D38006C5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9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Escolha provisória: água polar. Motivo: finalidade local direta e possibilidade de examinar a hipótese com instrumentos complementares.</a:t>
            </a:r>
          </a:p>
        </p:txBody>
      </p:sp>
    </p:spTree>
    <p:extLst>
      <p:ext uri="{BB962C8B-B14F-4D97-AF65-F5344CB8AC3E}">
        <p14:creationId xmlns:p14="http://schemas.microsoft.com/office/powerpoint/2010/main" val="1407964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9ED93-2799-4E57-8221-0D4AE860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C77C3-611D-4517-B8C8-A4F3F90B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Decisão e área de estudo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896D7-A079-4373-94A6-F169C033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E25FD-3F0E-4F95-AEB1-9AF04E41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231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Aurora Sul investiga água gelada no regolito em uma zona de estudo próxima a Shackleton.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DF1D9-F05A-4122-BDED-7E83744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A borda de Shackleton permite estudar terreno e iluminação próximos a regiões polares frias. A missão ainda não definiu coordenada de pouso ou de lavra.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C9172-FE2D-46E4-B423-987DF2BE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9810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A282B-4E32-46C2-83DC-8BFAF0B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939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Delimitação pendente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ED105-3D9A-4CB6-A863-8DFE6D05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5900"/>
            <a:ext cx="9391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Moon Trek deve registrar área, camada, escala, coordenadas e captura da consulta.</a:t>
            </a:r>
          </a:p>
        </p:txBody>
      </p:sp>
    </p:spTree>
    <p:extLst>
      <p:ext uri="{BB962C8B-B14F-4D97-AF65-F5344CB8AC3E}">
        <p14:creationId xmlns:p14="http://schemas.microsoft.com/office/powerpoint/2010/main" val="263665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EBF67-B872-4641-A9E1-53DBB463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22C66-DA67-404C-A70B-3B9ED812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Evidência 1: condições térmicas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B6973-EC83-48ED-8108-C7E644A8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0B514-6C3A-4864-9CBE-96B2D8C8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57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FB1C3-361B-4ECA-9A10-04FC8EFE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43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Diviner, LRO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0F39A-E2EF-4370-85BD-D49860E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4438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Os Polar Resource Products V2.0 reúnem temperatura média anual, máxima anual e estimativa de profundidade até permafrost em regiões polares.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76CCD-1C83-4047-AFE7-DF9E6F7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857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DA987-6462-499D-8698-770DD3AF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443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O que sustenta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AE6AE-7B57-48E5-9EDE-760F663A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4438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Temperatura orienta a investigação de ambientes capazes de preservar voláteis.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D735E-D751-48FF-A3D6-68A05147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Limite: temperatura não mede teor de gelo, profundidade real nem recuperabilidade. A equipe ainda precisa ler os pixels e metadados da área escolhida.</a:t>
            </a:r>
          </a:p>
        </p:txBody>
      </p:sp>
    </p:spTree>
    <p:extLst>
      <p:ext uri="{BB962C8B-B14F-4D97-AF65-F5344CB8AC3E}">
        <p14:creationId xmlns:p14="http://schemas.microsoft.com/office/powerpoint/2010/main" val="105255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B8D6E-31D7-4CEC-89DF-2EE0A097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AA28F-52EE-44A1-9743-AD6F87D9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Evidência 2: indicador de hidrogênio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E4B44-B735-439D-94CF-3558CE8C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BEF00-939A-4D45-91D2-6F485DCF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57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5B1D8-DFCC-4C1E-826F-BD343CA7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43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LEND, LRO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1594C-0192-4EE2-A5D1-C6882E54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4438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O Lunar Exploration Neutron Detector mede fluxo de nêutrons. Seus produtos apoiam mapas de albedo de nêutrons e estimativas de hidrogênio.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D64A6-933B-44AA-B438-90FB3C5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857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C9DF1-B0AE-47C2-8EF9-A323B8E6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443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O que sustenta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1F970-91E4-4C67-8A2A-AC8AB35F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4438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Um sinal compatível com hidrogênio justifica investigar água junto de temperatura e terreno.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64CC8-6429-4D41-B959-0E3B53A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Limite: o sinal é indireto. Ele não identifica a forma química, concentração, profundidade ou extraibilidade em um ponto.</a:t>
            </a:r>
          </a:p>
        </p:txBody>
      </p:sp>
    </p:spTree>
    <p:extLst>
      <p:ext uri="{BB962C8B-B14F-4D97-AF65-F5344CB8AC3E}">
        <p14:creationId xmlns:p14="http://schemas.microsoft.com/office/powerpoint/2010/main" val="1939604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F14F4-550B-4098-AA0C-2257C32A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4ADFC-621F-4583-A94E-1666584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Evidência 3: terreno e rota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C6D62-3576-4D28-9FA1-13BDDAF0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83155-5576-4C24-8D70-7454DBB8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57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DD829-607A-4A91-8C90-17032084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43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LOLA, LRO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284D3-70C9-454B-9514-DA3BD727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4438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A NASA disponibiliza para a borda de Shackleton mapas de elevação, declividade, incerteza e contagem de pontos LOLA, em produtos de 5 m por pixel.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4DA46-6A52-44B7-902C-3BB2C9E8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857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17F52-81F0-4C61-9BB7-D803786E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443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O que sustenta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3F2BB-64CA-4829-BF3F-FF1BCC95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4438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Topografia permite avaliar rota, pouso e acesso entre infraestrutura e área de prospecção.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D7149-BA12-4BA2-AFFF-5510DE33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Limite: topografia não substitui análise de rochas, iluminação ao longo do tempo e validação por reconhecimento local.</a:t>
            </a:r>
          </a:p>
        </p:txBody>
      </p:sp>
    </p:spTree>
    <p:extLst>
      <p:ext uri="{BB962C8B-B14F-4D97-AF65-F5344CB8AC3E}">
        <p14:creationId xmlns:p14="http://schemas.microsoft.com/office/powerpoint/2010/main" val="998219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47061-A34C-472C-9A40-888A22C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37BD6-6697-49EC-B88F-3587EF6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Leitura integrada dos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4998B-FA39-429C-A086-1F8D891F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8F624-0BCA-460E-ABDA-6498383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Temperatura, hidrogênio e terreno respondem a perguntas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1E02F-97EF-414E-8C2D-EA023949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A25D0-932A-4CF3-A1DC-20513329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Diviner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28330-4162-4210-A843-E62A4E90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O ambiente pode preservar voláteis?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8C204-CC31-4A4B-8B81-FF796D8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33B33-FEE1-413B-8AA3-7B3744F5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LEND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7995E-6D1C-43D4-A204-1AAE05F8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7190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Há um indicador indireto de hidrogênio?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5B319-FF0D-4165-A15D-4E24A61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1B9C4-2372-4847-AD49-476B3788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LOLA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0E46C-09F2-4E86-8A43-93EDAA97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A equipe consegue pousar e operar?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A77CC-87E5-406A-B498-7D5B72A3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 decisão só avança quando as três leituras se referem à mesma área delimitada.</a:t>
            </a:r>
          </a:p>
        </p:txBody>
      </p:sp>
    </p:spTree>
    <p:extLst>
      <p:ext uri="{BB962C8B-B14F-4D97-AF65-F5344CB8AC3E}">
        <p14:creationId xmlns:p14="http://schemas.microsoft.com/office/powerpoint/2010/main" val="1826577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945D8-B0EF-461B-817F-6A7388F8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E1AFF-5AA6-438F-8BB9-DED208C0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Operação proposta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FFE8C-737B-48CD-BC1D-2A29ABD2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714A0-5D8B-4AAA-8D1A-0FF1AF31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71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Reconhecimento local antes de escavação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0C8DB-E798-4C9D-9633-6369EA9D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1. Caracterizar o regolito em amostras rasas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12578-FF92-4DF3-BF49-8B0A2FC1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2. Transportar material confirmado para reator fechado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DDB8C-D377-4014-B081-4D0CB79B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3. Aquecer, capturar vapor, condensar e tratar a água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0F8A3-310F-4521-89DF-5D0E2AB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A taxa de produção só entra na missão depois de dados locais e de um balanço de energia.</a:t>
            </a:r>
          </a:p>
        </p:txBody>
      </p:sp>
    </p:spTree>
    <p:extLst>
      <p:ext uri="{BB962C8B-B14F-4D97-AF65-F5344CB8AC3E}">
        <p14:creationId xmlns:p14="http://schemas.microsoft.com/office/powerpoint/2010/main" val="18034499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64D99-C447-41A3-B38D-C0CD3E69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74B2D-FD98-4A69-9ABE-8E0EEE84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Uso do recurso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16CF1-DD72-4FBA-B198-B3E0AEF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B8CBF-1205-4933-B509-9A303E2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D8BD0-8657-4E5B-B8EB-62597413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Primeiro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1FE55-AE81-427F-A220-6FCA7FB8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7241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Água de processo e apoio à operação lunar.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897CC-F80C-43AE-85B3-8154E835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8815F-1342-4DED-94B3-F01DA43D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432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Após tratamento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A0C5D-1F3D-46F4-B168-B01A3965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00400"/>
            <a:ext cx="27241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Possível uso em suporte à vida, condicionado à pureza e ao sistema de segurança.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3CEAC-D4A0-4871-A6CE-5E54DAFB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64D9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7C29E-09C4-4818-96BC-18954C1A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Etapa posterior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8D1B2-4703-48D1-8257-7976A160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7241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Eletrólise para oxigênio e hidrogênio, se massa, energia e armazenamento justificarem.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327EF-3459-42F5-A471-7AAFEC0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 finalidade local orienta a escolha. A viabilidade depende de confirmar a cadeia completa.</a:t>
            </a:r>
          </a:p>
        </p:txBody>
      </p:sp>
    </p:spTree>
    <p:extLst>
      <p:ext uri="{BB962C8B-B14F-4D97-AF65-F5344CB8AC3E}">
        <p14:creationId xmlns:p14="http://schemas.microsoft.com/office/powerpoint/2010/main" val="1889273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403AD-494B-4C62-AE2F-0B84CF07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2E115-1787-47FE-8193-DC48D4C9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Riscos, incertezas e verificação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BC8EC-4816-4ADB-890E-90EE19A8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CD509-77FE-44B7-AEC4-81DBCBE4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F5A6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B90A8-7429-4668-9051-EB0DAA3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Material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2020D-24E6-47EB-B19E-03E267A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724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Sinais remotos não confirmam concentração, profundidade ou forma do gelo.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6316D-8117-4A17-92CF-7D2B47FF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F5A6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53DD0-8F92-452D-B393-3B5D6809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527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Operação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2495B-8E8C-46F4-B431-0EC4D89B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09900"/>
            <a:ext cx="2724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Sombra, energia, poeira, rota e terreno podem inviabilizar uma configuração.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4A5E7-4A2F-4744-9B1D-777EAB03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365D"/>
          </a:solidFill>
          <a:ln xmlns:a="http://schemas.openxmlformats.org/drawingml/2006/main" w="9525">
            <a:solidFill>
              <a:srgbClr val="F5A6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0CFB0-11BC-4678-ADAF-5B5A976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Decisão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46797-C46E-41A5-AB7E-0F80DD16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724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A equipe precisa revisar a escolha caso os dados espaciais ou locais contradigam a hipótese.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4C5B9-CFC1-4270-8F0A-9257554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Próxima ação: delimitar a área no Moon Trek e registrar cada camada com coordenadas, versão e limite.</a:t>
            </a:r>
          </a:p>
        </p:txBody>
      </p:sp>
    </p:spTree>
    <p:extLst>
      <p:ext uri="{BB962C8B-B14F-4D97-AF65-F5344CB8AC3E}">
        <p14:creationId xmlns:p14="http://schemas.microsoft.com/office/powerpoint/2010/main" val="4465425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6494A-DFE3-4565-9440-F69E8A6C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C8CA5-05A2-4FBB-A1B6-B2A3B0C8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Processo de decisão e uso de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C9A86-CE0D-4308-86E9-BF97E22E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9B280-C27F-457F-AFBA-0A2E54DB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Ferramentas: Moon Trek, Lunar Orbital Data Explorer, PDS, produtos NASA Goddard e AQUA Lunar.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DC6AF-8CDD-44C7-9D75-80FB972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Verificação: cada evidência aponta para produto ou documentação primária.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4F0E7-D913-435C-A78B-BB1E9113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Uso de IA: organização de hipóteses e revisão de clareza. A equipe precisa verificar cada afirmação na fonte e registrar erros ou afirmações não confiáveis.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8096A-ECF5-4BDA-9796-B9825413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3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Afirmações rejeitadas: um mapa de hidrogênio não define uma mina. Sombra permanente não garante água extraível.</a:t>
            </a:r>
          </a:p>
        </p:txBody>
      </p:sp>
    </p:spTree>
    <p:extLst>
      <p:ext uri="{BB962C8B-B14F-4D97-AF65-F5344CB8AC3E}">
        <p14:creationId xmlns:p14="http://schemas.microsoft.com/office/powerpoint/2010/main" val="11721887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5EF84-C8C6-495A-A3F6-B4F00098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AURORA SUL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EC93A-6FA9-4358-B503-AC3F31DD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AF7F7"/>
                </a:solidFill>
                <a:latin typeface="Arial"/>
                <a:ea typeface="Arial"/>
                <a:cs typeface="Arial"/>
              </a:rPr>
              <a:t>Decisão final provisória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AA4AB-18E8-400A-B21B-93902400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3A9B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3A9BC"/>
                </a:solidFill>
                <a:latin typeface="Arial"/>
                <a:ea typeface="Arial"/>
                <a:cs typeface="Arial"/>
              </a:rPr>
              <a:t>Space Mining Challenge Brasil 2026   | 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4DB10-6D5B-4DF8-9F1E-BBA5F60F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4D9E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4D9E7"/>
                </a:solidFill>
                <a:latin typeface="Arial"/>
                <a:ea typeface="Arial"/>
                <a:cs typeface="Arial"/>
              </a:rPr>
              <a:t>Água polar é a melhor primeira hipótese para Aurora Sul.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5B622-798F-4720-A3CF-39E45F12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7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7F7"/>
                </a:solidFill>
                <a:latin typeface="Arial"/>
                <a:ea typeface="Arial"/>
                <a:cs typeface="Arial"/>
              </a:rPr>
              <a:t>A proposta não promete uma mina em Shackleton. Ela propõe uma investigação responsável que só avança para extração após confirmar material, acesso e custo operacional.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3C55D-2F07-487F-9D17-9FC6FD1F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5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6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4B"/>
                </a:solidFill>
                <a:latin typeface="Arial"/>
                <a:ea typeface="Arial"/>
                <a:cs typeface="Arial"/>
              </a:rPr>
              <a:t>Próxima entrega: três capturas verificáveis no Moon Trek, rascunho exportado do AQUA Lunar e revisão final do pitch.</a:t>
            </a:r>
          </a:p>
        </p:txBody>
      </p:sp>
    </p:spTree>
    <p:extLst>
      <p:ext uri="{BB962C8B-B14F-4D97-AF65-F5344CB8AC3E}">
        <p14:creationId xmlns:p14="http://schemas.microsoft.com/office/powerpoint/2010/main" val="389459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2026-09-12T17:04:55.0300000Z</dcterms:created>
  <dcterms:modified xsi:type="dcterms:W3CDTF">2026-09-12T17:04:55.0300000Z</dcterms:modified>
</coreProperties>
</file>